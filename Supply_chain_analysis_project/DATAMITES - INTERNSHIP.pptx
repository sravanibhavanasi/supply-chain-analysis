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21"/>
  </p:notesMasterIdLst>
  <p:sldIdLst>
    <p:sldId id="256" r:id="rId2"/>
    <p:sldId id="257" r:id="rId3"/>
    <p:sldId id="258" r:id="rId4"/>
    <p:sldId id="271" r:id="rId5"/>
    <p:sldId id="259" r:id="rId6"/>
    <p:sldId id="260" r:id="rId7"/>
    <p:sldId id="272" r:id="rId8"/>
    <p:sldId id="261" r:id="rId9"/>
    <p:sldId id="262" r:id="rId10"/>
    <p:sldId id="263" r:id="rId11"/>
    <p:sldId id="264" r:id="rId12"/>
    <p:sldId id="265" r:id="rId13"/>
    <p:sldId id="273" r:id="rId14"/>
    <p:sldId id="274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4AC23-2507-4549-AFB3-3C365AF0D4A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AC3D6-DF22-44F0-BF2B-8842D71CC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30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C3D6-DF22-44F0-BF2B-8842D71CC0F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670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54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97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85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1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990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43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836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33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475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960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574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5967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143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185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733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770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35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EE21385-8969-4AA4-A9DD-5DEEEA73EE4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28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0251-BB52-0CDE-CBA0-CBCE44029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0252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DATAMITES - INTERNSHIP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A5BEF-D8C0-C1BC-F8DD-8BC64AB10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4891"/>
            <a:ext cx="9144000" cy="3132909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PROJECT ID:   PRDA-0 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SUPPLY CHAIN ANALYSIS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PROJECT TEAM ID:    </a:t>
            </a:r>
            <a:r>
              <a:rPr lang="en-IN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PTID-CDA-OCT-25-814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Project By:  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SRAVANI BHAVANASI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61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B984-A29F-78AA-F35E-DCF7DBD8C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8600" y="459379"/>
            <a:ext cx="6836229" cy="97535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Sitka Heading Semibold" pitchFamily="2" charset="0"/>
              </a:rPr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275D0-3A2B-EC9C-533D-FBB8ECAA3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5286" y="1865813"/>
            <a:ext cx="9927771" cy="335933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 an end-to-end diagnostic of SKU performance across the supply chain.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demand flow, inventory health, production alignment, supplier dependability, and logistics spend.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 operational bottlenecks impacting revenue, availability, and cost.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strategic insights enabling optimized reorder cycles, supplier tiering, and logistics cost reduction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752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3EF5-39FF-D423-D42D-DF149C451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3514" y="664028"/>
            <a:ext cx="9200017" cy="816429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Sitka Heading Semibold" pitchFamily="2" charset="0"/>
              </a:rPr>
              <a:t>DATASET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74AF9-BCAB-1DA8-E435-2E9A7EF8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1578428"/>
            <a:ext cx="9470571" cy="419100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end-to-end supply chain dataset enabling performance analytics across products, suppliers, logistics, quality, and inventory.</a:t>
            </a:r>
          </a:p>
          <a:p>
            <a:pPr algn="l"/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composition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100+ </a:t>
            </a:r>
            <a:r>
              <a:rPr lang="en-IN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cosmetics, skincare, and haircare.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Multi-supplier sourcing network with varied lead times.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supply chain attributes from production → delivery.</a:t>
            </a:r>
          </a:p>
          <a:p>
            <a:pPr algn="l"/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data: SKU, product type, price, availability.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data: units sold, order quantity.</a:t>
            </a:r>
          </a:p>
        </p:txBody>
      </p:sp>
    </p:spTree>
    <p:extLst>
      <p:ext uri="{BB962C8B-B14F-4D97-AF65-F5344CB8AC3E}">
        <p14:creationId xmlns:p14="http://schemas.microsoft.com/office/powerpoint/2010/main" val="287578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2CBE8-B4D5-4028-6964-B50365AF8A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45028" y="1153886"/>
            <a:ext cx="9829801" cy="4718956"/>
          </a:xfrm>
        </p:spPr>
        <p:txBody>
          <a:bodyPr/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production &amp; operations: production volume, processing time, lead time.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metrics: stock levels, manufacturing cost.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metrics: supplier ID, distance, lead time, reliability.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control: inspection results, defect rate (%).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logistics: transport mode, route, delivery time, shipping cost.</a:t>
            </a:r>
          </a:p>
          <a:p>
            <a:pPr marL="0" indent="0">
              <a:buNone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dataset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revenue flow, inventory balance, supplier performance, quality stability, and logistics cost efficiency—supporting data-driven operational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608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CD31-E285-1BFB-DBCE-F764A5B83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389915"/>
            <a:ext cx="10364451" cy="1596177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Sitka Heading Semibold" pitchFamily="2" charset="0"/>
              </a:rPr>
              <a:t>KEY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E457-804B-9795-7648-3407FB32FD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86092"/>
            <a:ext cx="10363826" cy="3424107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577.6k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Sold: 46K units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Logistics Cost : 52.92k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Avg. Lead time: 15.96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Defect rate : 2.277</a:t>
            </a:r>
          </a:p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strong performance in skincare + top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driving most sale.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80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CD14-E5BA-F017-BD7B-95162EDD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68712"/>
            <a:ext cx="10364451" cy="1596177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Sitka Heading Semibold" pitchFamily="2" charset="0"/>
              </a:rPr>
              <a:t>Dashboard Overview – POWER BI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AB1220-AF99-7F32-9664-F19CFDE3540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71" y="1426029"/>
            <a:ext cx="10364451" cy="5083628"/>
          </a:xfrm>
        </p:spPr>
      </p:pic>
    </p:spTree>
    <p:extLst>
      <p:ext uri="{BB962C8B-B14F-4D97-AF65-F5344CB8AC3E}">
        <p14:creationId xmlns:p14="http://schemas.microsoft.com/office/powerpoint/2010/main" val="133393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CE9E-AB3F-9335-01D4-A17EA2229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3600" dirty="0">
                <a:latin typeface="Sitka Heading Semibold" pitchFamily="2" charset="0"/>
              </a:rPr>
              <a:t>Dashboard Overview – TABLEAU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1C99CA-B001-4EDA-F815-5849BB694AF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7" y="1600201"/>
            <a:ext cx="11081657" cy="4887686"/>
          </a:xfrm>
        </p:spPr>
      </p:pic>
    </p:spTree>
    <p:extLst>
      <p:ext uri="{BB962C8B-B14F-4D97-AF65-F5344CB8AC3E}">
        <p14:creationId xmlns:p14="http://schemas.microsoft.com/office/powerpoint/2010/main" val="299056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CB32-2B63-8DBD-3CDF-B1801C0D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87" y="421112"/>
            <a:ext cx="10277678" cy="159617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3200" b="1" dirty="0"/>
              <a:t>Revenue Performance by Product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A1012-CE1E-84E9-CED6-E84B032A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017289"/>
            <a:ext cx="10363826" cy="34241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Skincare</a:t>
            </a:r>
            <a:r>
              <a:rPr lang="en-US" dirty="0"/>
              <a:t>: </a:t>
            </a:r>
            <a:r>
              <a:rPr lang="en-US" b="1" dirty="0"/>
              <a:t>241.6K</a:t>
            </a:r>
            <a:r>
              <a:rPr lang="en-US" dirty="0"/>
              <a:t> (Highest)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Haircare: 174.4K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Cosmetics: 161.5K</a:t>
            </a:r>
          </a:p>
          <a:p>
            <a:r>
              <a:rPr lang="en-US" dirty="0"/>
              <a:t>📌 </a:t>
            </a:r>
            <a:r>
              <a:rPr lang="en-US" i="1" dirty="0"/>
              <a:t>Skincare is the strongest revenue contributor. Focus on keeping its stock healthy.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46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3318-F03B-D3B9-2044-E1E1787D8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355" y="740229"/>
            <a:ext cx="8689976" cy="816428"/>
          </a:xfrm>
        </p:spPr>
        <p:txBody>
          <a:bodyPr>
            <a:normAutofit/>
          </a:bodyPr>
          <a:lstStyle/>
          <a:p>
            <a:pPr algn="l"/>
            <a:r>
              <a:rPr lang="en-IN" sz="3200" b="1" cap="none" dirty="0">
                <a:latin typeface="Sitka Heading Semibold" pitchFamily="2" charset="0"/>
              </a:rPr>
              <a:t>PRODUCT MIX &amp; CATEGORY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A2CD7-E30D-F8E2-0DE8-BE419F8A1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1" y="1948542"/>
            <a:ext cx="9622970" cy="4169229"/>
          </a:xfrm>
        </p:spPr>
        <p:txBody>
          <a:bodyPr>
            <a:normAutofit/>
          </a:bodyPr>
          <a:lstStyle/>
          <a:p>
            <a:pPr algn="l"/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skincare → highest demand + highest price point</a:t>
            </a:r>
          </a:p>
          <a:p>
            <a:pPr algn="l"/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haircare → stable middle performer</a:t>
            </a:r>
          </a:p>
          <a:p>
            <a:pPr algn="l"/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cosmetics → lower revenue but competitive volume</a:t>
            </a:r>
          </a:p>
          <a:p>
            <a:pPr algn="l"/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opportunity: expand skincare variants &amp; bundle slower-moving cosmetic </a:t>
            </a:r>
            <a:r>
              <a:rPr lang="en-IN" sz="20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endParaRPr lang="en-IN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7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95B3-CAB3-EBFE-DECF-E13D327F9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78" y="270175"/>
            <a:ext cx="10364451" cy="159617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b="1" dirty="0"/>
              <a:t>Top 5 SKUs Sold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12362-6C51-16EF-1168-5C2ED947F2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116721"/>
            <a:ext cx="10363826" cy="342410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Top contributors: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SKU10</a:t>
            </a:r>
            <a:r>
              <a:rPr lang="en-US" dirty="0"/>
              <a:t>: 996 units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SKU04: 987 units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SKU36 &amp; SKU37: 963 units each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SKU09: 980 units</a:t>
            </a:r>
          </a:p>
          <a:p>
            <a:r>
              <a:rPr lang="en-US" dirty="0"/>
              <a:t>📌 </a:t>
            </a:r>
            <a:r>
              <a:rPr lang="en-US" i="1" dirty="0"/>
              <a:t>Top five SKUs contribute major volume → Sales heavily rely on limited 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539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1F7A-4EBD-F32E-4AB8-2C4347ABE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143" y="563307"/>
            <a:ext cx="9145588" cy="94167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Lead Time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C08D3-5BB5-DC69-D3DE-5F37403A0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774372"/>
            <a:ext cx="8873445" cy="3766456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2000" dirty="0">
                <a:solidFill>
                  <a:schemeClr val="tx1"/>
                </a:solidFill>
              </a:rPr>
              <a:t>Highest delays: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Delhi ≈ 18 days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Chennai &amp; Bangalore follow closely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📌 </a:t>
            </a:r>
            <a:r>
              <a:rPr lang="en-US" sz="2000" i="1" dirty="0">
                <a:solidFill>
                  <a:schemeClr val="tx1"/>
                </a:solidFill>
              </a:rPr>
              <a:t>Longer lead time in major cities indicates logistical inefficiencies — needs optimization.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24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FA15-67B1-FCA4-6C29-FE2B84EE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87" y="849524"/>
            <a:ext cx="10364451" cy="1199397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Logistics Cost by Mode</a:t>
            </a:r>
            <a:br>
              <a:rPr lang="en-US" b="1" dirty="0"/>
            </a:br>
            <a:br>
              <a:rPr lang="en-US" dirty="0">
                <a:latin typeface="Sitka Heading Semibold" pitchFamily="2" charset="0"/>
              </a:rPr>
            </a:br>
            <a:endParaRPr lang="en-IN" dirty="0">
              <a:latin typeface="Sitka Heading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AE581-4577-690E-F2B0-64D716C738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854435"/>
            <a:ext cx="10363826" cy="34241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Road: 30.32%</a:t>
            </a:r>
            <a:r>
              <a:rPr lang="en-US" dirty="0"/>
              <a:t> → Highest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 &amp; Rail moderately lower</a:t>
            </a:r>
          </a:p>
          <a:p>
            <a:r>
              <a:rPr lang="en-US" dirty="0"/>
              <a:t>📌 </a:t>
            </a:r>
            <a:r>
              <a:rPr lang="en-US" i="1" dirty="0"/>
              <a:t>Better mode allocation may reduce cost. Air can be used only for urgent shipments.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252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2588-3100-85D0-497D-D267914D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Defect Rate by Product Type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5729A-B4F0-7A4A-C510-4D5E1ABE0DC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Haircare: Highest defect rate (~2.48%)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Cosmetics: Lowest (~1.92%)</a:t>
            </a:r>
          </a:p>
          <a:p>
            <a:r>
              <a:rPr lang="en-US" dirty="0"/>
              <a:t>📌 </a:t>
            </a:r>
            <a:r>
              <a:rPr lang="en-US" i="1" dirty="0"/>
              <a:t>Quality issues mainly in Haircare — strengthen supplier QC.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733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AE67-0E6B-EA5F-87F3-9A749152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Inventory Stock Levels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C65B7-17DB-05B3-E8A6-98058A8F85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SKUs stocked high (</a:t>
            </a:r>
            <a:r>
              <a:rPr lang="en-US" b="1" dirty="0"/>
              <a:t>SKU12 — 100 units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Others extremely low (</a:t>
            </a:r>
            <a:r>
              <a:rPr lang="en-US" b="1" dirty="0"/>
              <a:t>SKU2 — 1 unit</a:t>
            </a:r>
            <a:r>
              <a:rPr lang="en-US" dirty="0"/>
              <a:t>, SKU8 — 5 units)</a:t>
            </a:r>
          </a:p>
          <a:p>
            <a:r>
              <a:rPr lang="en-US" dirty="0"/>
              <a:t>📌 </a:t>
            </a:r>
            <a:r>
              <a:rPr lang="en-US" i="1" dirty="0"/>
              <a:t>Clear mismatch: Over-stocking some while others risk stockouts.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738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3064-1F16-4DC4-A00D-5C6E92457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859149"/>
            <a:ext cx="10364451" cy="1123197"/>
          </a:xfrm>
        </p:spPr>
        <p:txBody>
          <a:bodyPr/>
          <a:lstStyle/>
          <a:p>
            <a:pPr algn="l"/>
            <a:r>
              <a:rPr lang="en-US" sz="3200" b="1" dirty="0">
                <a:latin typeface="Sitka Heading Semibold" pitchFamily="2" charset="0"/>
              </a:rPr>
              <a:t>Customer DEMOGRAPHICS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3999C-E023-B5F1-6DD7-F4A27B1D68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741714"/>
            <a:ext cx="10363826" cy="39139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segments: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Unknown: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0.83M</a:t>
            </a: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Female: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0.49M</a:t>
            </a: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Male: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0.49M</a:t>
            </a: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Non-binary: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0.48M</a:t>
            </a:r>
            <a:b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proportion of “unknown” customer data — requires cleansing for better marketing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193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703D-5EE5-60EA-F252-7E7235567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954" y="913712"/>
            <a:ext cx="8689976" cy="1224701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>
                <a:latin typeface="Sitka Heading Semibold" pitchFamily="2" charset="0"/>
              </a:rPr>
              <a:t>Supplier-Wise</a:t>
            </a:r>
            <a:r>
              <a:rPr lang="en-US" sz="4400" dirty="0"/>
              <a:t> </a:t>
            </a:r>
            <a:r>
              <a:rPr lang="en-US" sz="3600" dirty="0">
                <a:latin typeface="Sitka Heading Semibold" pitchFamily="2" charset="0"/>
              </a:rPr>
              <a:t>Insights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08AB6-9D5F-0C52-D503-ECBA66DDA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2927" y="1915886"/>
            <a:ext cx="8689976" cy="348342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Filter-based analysis (from dashboard dataset)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suppliers causing long lead times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suppliers contributing to revenue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strengthen relationships with consistent suppliers to reduce average lead time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673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2AA2-A7E5-7630-D71F-13F53212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47" y="714770"/>
            <a:ext cx="10265854" cy="1596177"/>
          </a:xfrm>
        </p:spPr>
        <p:txBody>
          <a:bodyPr/>
          <a:lstStyle/>
          <a:p>
            <a:pPr algn="l"/>
            <a:r>
              <a:rPr lang="en-US" sz="3200" dirty="0">
                <a:latin typeface="Sitka Heading Semibold" pitchFamily="2" charset="0"/>
              </a:rPr>
              <a:t>Key</a:t>
            </a:r>
            <a:r>
              <a:rPr lang="en-US" sz="3200" b="1" dirty="0">
                <a:latin typeface="Sitka Heading Semibold" pitchFamily="2" charset="0"/>
              </a:rPr>
              <a:t> </a:t>
            </a:r>
            <a:r>
              <a:rPr lang="en-US" sz="3200" dirty="0">
                <a:latin typeface="Sitka Heading Semibold" pitchFamily="2" charset="0"/>
              </a:rPr>
              <a:t>Findings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227C5-A1FD-EB9F-E332-29B4930541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018750"/>
            <a:ext cx="10363826" cy="3424107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drives nearly half of revenue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 overall sales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 data incomplete — opportunity for data enhancement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 averages ~16 days → room to optimize supply chain speed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improvement needed for slow-moving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250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FAA8B-1F48-1E57-5A6C-3C6F2028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64088"/>
            <a:ext cx="10232572" cy="1596177"/>
          </a:xfrm>
        </p:spPr>
        <p:txBody>
          <a:bodyPr/>
          <a:lstStyle/>
          <a:p>
            <a:pPr algn="l"/>
            <a:r>
              <a:rPr lang="en-IN" sz="3200" dirty="0">
                <a:latin typeface="Sitka Heading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C7C1-E17C-457F-DE1A-AADC9C3821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77373" y="1183907"/>
            <a:ext cx="10363826" cy="486075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supply chain lead time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delays from high-lead-time suppliers</a:t>
            </a:r>
          </a:p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high-performing </a:t>
            </a:r>
            <a:r>
              <a:rPr lang="en-IN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stock for SKU10, SKU04, SKU36</a:t>
            </a:r>
          </a:p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data capture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“unknown” segment</a:t>
            </a:r>
          </a:p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Promotional strategy for low-revenue </a:t>
            </a:r>
            <a:r>
              <a:rPr lang="en-IN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cosmetics and haircare for upselling</a:t>
            </a:r>
          </a:p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&amp; planning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demand forecasting using your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615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4999-F09F-1D8F-025A-DE2F4FCF3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82" y="428668"/>
            <a:ext cx="8612187" cy="1104958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Sitka Heading Semibold" pitchFamily="2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2F139-2A5E-79AE-9B2C-0D5900AE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2555" y="1916000"/>
            <a:ext cx="8689976" cy="37283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business performance strong.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bottlenecks identified.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strategies available for operational improvement.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supports data-driven decision making for supply chain optimization.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17514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452</TotalTime>
  <Words>727</Words>
  <Application>Microsoft Office PowerPoint</Application>
  <PresentationFormat>Widescreen</PresentationFormat>
  <Paragraphs>104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Sitka Heading Semibold</vt:lpstr>
      <vt:lpstr>Times New Roman</vt:lpstr>
      <vt:lpstr>Tw Cen MT</vt:lpstr>
      <vt:lpstr>Droplet</vt:lpstr>
      <vt:lpstr>DATAMITES - INTERNSHIP</vt:lpstr>
      <vt:lpstr>Project Objective</vt:lpstr>
      <vt:lpstr>DATASET OVERVIEW</vt:lpstr>
      <vt:lpstr>PowerPoint Presentation</vt:lpstr>
      <vt:lpstr>KEY KPIs</vt:lpstr>
      <vt:lpstr>Dashboard Overview – POWER BI</vt:lpstr>
      <vt:lpstr>Dashboard Overview – TABLEAU</vt:lpstr>
      <vt:lpstr>Revenue Performance by Product Type</vt:lpstr>
      <vt:lpstr>PRODUCT MIX &amp; CATEGORY INSIGHTS</vt:lpstr>
      <vt:lpstr>Top 5 SKUs Sold</vt:lpstr>
      <vt:lpstr>Lead Time Analysis</vt:lpstr>
      <vt:lpstr>Logistics Cost by Mode  </vt:lpstr>
      <vt:lpstr>Defect Rate by Product Type </vt:lpstr>
      <vt:lpstr>Inventory Stock Levels </vt:lpstr>
      <vt:lpstr>Customer DEMOGRAPHICS</vt:lpstr>
      <vt:lpstr>Supplier-Wise Insights </vt:lpstr>
      <vt:lpstr>Key Findings </vt:lpstr>
      <vt:lpstr>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Reddy</dc:creator>
  <cp:lastModifiedBy>BHAVANASI SRAVANI</cp:lastModifiedBy>
  <cp:revision>6</cp:revision>
  <dcterms:created xsi:type="dcterms:W3CDTF">2025-12-01T09:50:20Z</dcterms:created>
  <dcterms:modified xsi:type="dcterms:W3CDTF">2025-12-07T06:54:43Z</dcterms:modified>
</cp:coreProperties>
</file>